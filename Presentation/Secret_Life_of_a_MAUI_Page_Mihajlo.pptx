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2"/>
    <p:restoredTop sz="67912"/>
  </p:normalViewPr>
  <p:slideViewPr>
    <p:cSldViewPr snapToGrid="0" snapToObjects="1">
      <p:cViewPr varScale="1">
        <p:scale>
          <a:sx n="107" d="100"/>
          <a:sy n="107" d="100"/>
        </p:scale>
        <p:origin x="208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9128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88C9C-4BB7-535A-BC2D-58993F79F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32B11-6192-E081-83DA-391621600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1F187-B7E8-EC73-264D-8743F40F1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2B573-EE44-ADA8-D5A5-E01B627E1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90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B4E64-7F14-6020-EC76-3BACF647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9E356-1FA3-0ADD-25E9-70F76984E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3F8DC-CC76-C97F-2510-436E29F93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64B02-AAB9-7293-9D23-9A29FB8EFC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84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0E0A0"/>
          </a:solidFill>
          <a:ln w="12700">
            <a:solidFill>
              <a:srgbClr val="40E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Secret Life of a MAUI Page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4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15568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ptos"/>
              </a:rPr>
              <a:t>THE SECRET LIFE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ptos"/>
              </a:rPr>
              <a:t>OF A MAUI PAGE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Aptos"/>
              </a:rPr>
              <a:t>What actually happens between new MyPage() and the garbage collector?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58200" y="1005840"/>
            <a:ext cx="2971800" cy="379476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8887968" y="1371600"/>
            <a:ext cx="2084832" cy="420624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8997696" y="148132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ptos"/>
              </a:rPr>
              <a:t>Managed Page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930384" y="1810512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887968" y="1993392"/>
            <a:ext cx="208483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8997696" y="210312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ptos"/>
              </a:rPr>
              <a:t>Handler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30384" y="2432304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887968" y="2615184"/>
            <a:ext cx="208483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8997696" y="272491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ptos"/>
              </a:rPr>
              <a:t>Native 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930384" y="3054096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887968" y="3236976"/>
            <a:ext cx="208483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1" name="Text 19"/>
          <p:cNvSpPr/>
          <p:nvPr/>
        </p:nvSpPr>
        <p:spPr>
          <a:xfrm>
            <a:off x="8997696" y="334670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ptos"/>
              </a:rPr>
              <a:t>Navigation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930384" y="367588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887968" y="3858768"/>
            <a:ext cx="2084832" cy="420624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8997696" y="396849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GC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ptos"/>
              </a:rPr>
              <a:t>Mihajlo Mladenov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3AD24-11B6-E8D7-CF5B-F188E8A5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557B52-8614-4926-786F-0C91819BEBD0}"/>
              </a:ext>
            </a:extLst>
          </p:cNvPr>
          <p:cNvSpPr/>
          <p:nvPr/>
        </p:nvSpPr>
        <p:spPr>
          <a:xfrm>
            <a:off x="693603" y="708660"/>
            <a:ext cx="1080479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ptos"/>
              </a:rPr>
              <a:t>Dedicated to my wife, our daughter and the two little ones on the way!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1A0279-ED4E-7157-B143-1C7C2F3882DE}"/>
              </a:ext>
            </a:extLst>
          </p:cNvPr>
          <p:cNvSpPr/>
          <p:nvPr/>
        </p:nvSpPr>
        <p:spPr>
          <a:xfrm>
            <a:off x="731520" y="2073650"/>
            <a:ext cx="8269261" cy="860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Aptos"/>
              </a:rPr>
              <a:t>You are my biggest motivation, and the reason everything outside this screen matters the most.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24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7009C-0A1F-2442-F2E3-0953F1E7C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E502EC-796C-68F6-E9E5-DCAEB4B3518F}"/>
              </a:ext>
            </a:extLst>
          </p:cNvPr>
          <p:cNvSpPr/>
          <p:nvPr/>
        </p:nvSpPr>
        <p:spPr>
          <a:xfrm>
            <a:off x="693603" y="708660"/>
            <a:ext cx="1080479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ptos"/>
              </a:rPr>
              <a:t>MAUI Day rules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FB7F81-2903-EBFA-2603-BDB5E20AD16B}"/>
              </a:ext>
            </a:extLst>
          </p:cNvPr>
          <p:cNvSpPr/>
          <p:nvPr/>
        </p:nvSpPr>
        <p:spPr>
          <a:xfrm>
            <a:off x="731520" y="2073649"/>
            <a:ext cx="8269261" cy="114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rgbClr val="475569"/>
                </a:solidFill>
                <a:latin typeface="Aptos"/>
              </a:rPr>
              <a:t>No F-word</a:t>
            </a:r>
          </a:p>
          <a:p>
            <a:pPr marL="457200" indent="-457200">
              <a:lnSpc>
                <a:spcPct val="250000"/>
              </a:lnSpc>
              <a:buAutoNum type="arabicPeriod"/>
            </a:pPr>
            <a:r>
              <a:rPr lang="en-US" sz="2000" dirty="0">
                <a:solidFill>
                  <a:srgbClr val="475569"/>
                </a:solidFill>
                <a:latin typeface="Aptos"/>
              </a:rPr>
              <a:t>No N-word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F17EC-A3DA-5DD0-654D-05D2B5010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203" y="3259887"/>
            <a:ext cx="2781759" cy="27817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7165CC-7875-F059-FCDB-6E5047D2C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040" y="3259887"/>
            <a:ext cx="2781759" cy="278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6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THE MYSTERY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The page disappeared. Why is it still alive?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This is the question that turns lifecycle knowledge into useful debugging.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4754880" cy="1965960"/>
          </a:xfrm>
          <a:prstGeom prst="roundRect">
            <a:avLst>
              <a:gd name="adj" fmla="val 1395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896112" y="2194560"/>
            <a:ext cx="4425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await Shell.Current.GoToAsync("details?id=42");</a:t>
            </a:r>
            <a:endParaRPr lang="en-US" sz="1600" dirty="0"/>
          </a:p>
          <a:p>
            <a:pPr marL="0" indent="0">
              <a:buNone/>
              <a:defRPr>
                <a:solidFill>
                  <a:srgbClr val="64748B"/>
                </a:solidFill>
              </a:defRPr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user taps Back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await Shell.Current.GoToAsync("..");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42432" y="3035808"/>
            <a:ext cx="768096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6629400" y="1965960"/>
            <a:ext cx="4709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394767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9" name="Text 7"/>
          <p:cNvSpPr/>
          <p:nvPr/>
        </p:nvSpPr>
        <p:spPr>
          <a:xfrm>
            <a:off x="6967728" y="2267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Aptos"/>
              </a:rPr>
              <a:t>What you see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67728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ptos"/>
              </a:rPr>
              <a:t>DetailsPage is gone from the screen.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67728" y="3172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ptos"/>
              </a:rPr>
              <a:t>What may still exist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67728" y="35387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The page, its ViewModel, handlers, native views, event subscriptions, tasks...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593445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Visibility is a UI state. Lifetime is an ownership problem.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MENTAL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One page, five phases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We only need enough internals to understand ownership at each phase.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214884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1590">
            <a:solidFill>
              <a:srgbClr val="0284C7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850392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4C7"/>
                </a:solidFill>
                <a:latin typeface="Aptos"/>
              </a:rPr>
              <a:t>1  Construct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0632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C# + XAML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managed tree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15184" y="3127248"/>
            <a:ext cx="25603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2907792" y="214884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159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3044952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Aptos"/>
              </a:rPr>
              <a:t>2  Connect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90672" y="30632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Handler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native tree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9744" y="3127248"/>
            <a:ext cx="25603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102352" y="214884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1590">
            <a:solidFill>
              <a:srgbClr val="FFD16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5239512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  <a:latin typeface="Aptos"/>
              </a:rPr>
              <a:t>3  Show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85232" y="30632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Appearing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interaction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04304" y="3127248"/>
            <a:ext cx="25603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296912" y="214884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1590">
            <a:solidFill>
              <a:srgbClr val="D9770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7434072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Aptos"/>
              </a:rPr>
              <a:t>4  Navigate away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79792" y="30632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Stack changes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cleanup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98864" y="3127248"/>
            <a:ext cx="25603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491472" y="2148840"/>
            <a:ext cx="1874520" cy="19659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1590">
            <a:solidFill>
              <a:srgbClr val="FF6B7A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9628632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  <a:latin typeface="Aptos"/>
              </a:rPr>
              <a:t>5  Collect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74352" y="30632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Only when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unreachable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4709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75569"/>
                </a:solidFill>
                <a:latin typeface="Aptos"/>
              </a:rPr>
              <a:t>We will keep asking one thing: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97880" y="46725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ptos"/>
              </a:rPr>
              <a:t>Who owns the page now?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Construction creates a managed object graph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InitializeComponent() gives you much more than a page object - but still no native control.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2011680"/>
            <a:ext cx="4251960" cy="2057400"/>
          </a:xfrm>
          <a:prstGeom prst="roundRect">
            <a:avLst>
              <a:gd name="adj" fmla="val 1333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877824" y="2148840"/>
            <a:ext cx="39227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public DetailsPage(DetailsViewModel vm)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InitializeComponent();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BindingContext = vm;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85232" y="1965960"/>
            <a:ext cx="274320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5285232" y="1965960"/>
            <a:ext cx="64008" cy="2121408"/>
          </a:xfrm>
          <a:prstGeom prst="rect">
            <a:avLst/>
          </a:prstGeom>
          <a:solidFill>
            <a:srgbClr val="40E0A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9" name="Text 7"/>
          <p:cNvSpPr/>
          <p:nvPr/>
        </p:nvSpPr>
        <p:spPr>
          <a:xfrm>
            <a:off x="5513832" y="2130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Created now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3832" y="2532888"/>
            <a:ext cx="233172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ContentPage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XAML children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Bindings + resources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BindingContext references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02752" y="1965960"/>
            <a:ext cx="274320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302752" y="1965960"/>
            <a:ext cx="64008" cy="2121408"/>
          </a:xfrm>
          <a:prstGeom prst="rect">
            <a:avLst/>
          </a:prstGeom>
          <a:solidFill>
            <a:srgbClr val="FFB86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31352" y="2130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Not guaranteed yet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31352" y="2532888"/>
            <a:ext cx="233172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Handler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PlatformView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Native visual tree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On-screen state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868680" y="593445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Constructor ≠ screen. Managed tree first; platform tree later.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The handler is the bridge, not the page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It links a cross-platform control to its platform implementation.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Aptos"/>
              </a:rPr>
              <a:t>ContentPage / View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944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284C7"/>
                </a:solidFill>
                <a:latin typeface="Aptos"/>
              </a:rPr>
              <a:t>VirtualView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0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Aptos"/>
              </a:rPr>
              <a:t>Handler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0" y="2944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0B981"/>
                </a:solidFill>
                <a:latin typeface="Aptos"/>
              </a:rPr>
              <a:t>mapper + lifecycle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148840"/>
            <a:ext cx="27432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8138160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Aptos"/>
              </a:rPr>
              <a:t>PlatformView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38160" y="2944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97706"/>
                </a:solidFill>
                <a:latin typeface="Aptos"/>
              </a:rPr>
              <a:t>UIView / Android View / WinUI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84448" y="2852928"/>
            <a:ext cx="694944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50608" y="2852928"/>
            <a:ext cx="694944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828800" y="4160520"/>
            <a:ext cx="8503920" cy="1143000"/>
          </a:xfrm>
          <a:prstGeom prst="roundRect">
            <a:avLst>
              <a:gd name="adj" fmla="val 240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1993392" y="4297680"/>
            <a:ext cx="8174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protected override void OnHandlerChanged()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base.OnHandlerChanged();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Debug.WriteLine(Handler?.PlatformView?.GetType().Name);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" y="593445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OnHandlerChanged is the moment your managed control has a platform counterpart.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A page can live in two trees at once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The managed visual tree and the platform-native tree are related, but they are not the same object graph.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4C7"/>
                </a:solidFill>
                <a:latin typeface="Aptos"/>
              </a:rPr>
              <a:t>Managed tree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Aptos"/>
              </a:rPr>
              <a:t>Native tree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377440"/>
            <a:ext cx="25603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1078992" y="24963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F172A"/>
                </a:solidFill>
                <a:latin typeface="Aptos"/>
              </a:rPr>
              <a:t>ContentPage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3090672"/>
            <a:ext cx="25603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1078992" y="32095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F172A"/>
                </a:solidFill>
                <a:latin typeface="Aptos"/>
              </a:rPr>
              <a:t>Grid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0120" y="3803904"/>
            <a:ext cx="25603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78992" y="39227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F172A"/>
                </a:solidFill>
                <a:latin typeface="Aptos"/>
              </a:rPr>
              <a:t>Entry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4517136"/>
            <a:ext cx="25603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78992" y="4636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F172A"/>
                </a:solidFill>
                <a:latin typeface="Aptos"/>
              </a:rPr>
              <a:t>Button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01000" y="2377440"/>
            <a:ext cx="2834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9462E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8138160" y="24963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Aptos"/>
              </a:rPr>
              <a:t>UIViewController / Fragment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01000" y="3090672"/>
            <a:ext cx="2834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9462E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8138160" y="3209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Aptos"/>
              </a:rPr>
              <a:t>ViewGroup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01000" y="3803904"/>
            <a:ext cx="2834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9462E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8138160" y="39227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Aptos"/>
              </a:rPr>
              <a:t>UITextField / EditText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4517136"/>
            <a:ext cx="283464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9462E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8138160" y="4636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  <a:latin typeface="Aptos"/>
              </a:rPr>
              <a:t>UIButton / MaterialButton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36592" y="2578608"/>
            <a:ext cx="1874520" cy="2148840"/>
          </a:xfrm>
          <a:prstGeom prst="roundRect">
            <a:avLst>
              <a:gd name="adj" fmla="val 292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4965192" y="28803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ptos"/>
              </a:rPr>
              <a:t>Handlers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65192" y="3364992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create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connect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map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ptos"/>
              </a:rPr>
              <a:t>disconnect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3246120"/>
            <a:ext cx="10515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720840" y="3246120"/>
            <a:ext cx="11612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8680" y="593445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Native event subscriptions cross the boundary - and must be disconnected somewhere.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PHASE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Appearing and disappearing are visibility signals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Useful lifecycle hooks - but they are not object lifetime boundaries.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2267712"/>
            <a:ext cx="193852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0320">
            <a:solidFill>
              <a:srgbClr val="0284C7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284C7"/>
                </a:solidFill>
                <a:latin typeface="Aptos"/>
              </a:rPr>
              <a:t>Constructor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F172A"/>
                </a:solidFill>
                <a:latin typeface="Aptos"/>
              </a:rPr>
              <a:t>Object exists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2670048" y="283464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2980944" y="2267712"/>
            <a:ext cx="193852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032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3090672" y="249631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B981"/>
                </a:solidFill>
                <a:latin typeface="Aptos"/>
              </a:rPr>
              <a:t>HandlerChanged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090672" y="29077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F172A"/>
                </a:solidFill>
                <a:latin typeface="Aptos"/>
              </a:rPr>
              <a:t>Native side ready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937760" y="283464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248656" y="2267712"/>
            <a:ext cx="193852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0320">
            <a:solidFill>
              <a:srgbClr val="FFD16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5358384" y="249631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D166"/>
                </a:solidFill>
                <a:latin typeface="Aptos"/>
              </a:rPr>
              <a:t>OnAppearing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58384" y="29077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F172A"/>
                </a:solidFill>
                <a:latin typeface="Aptos"/>
              </a:rPr>
              <a:t>About to be shown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205472" y="283464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516368" y="2267712"/>
            <a:ext cx="193852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0320">
            <a:solidFill>
              <a:srgbClr val="D9770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7626096" y="249631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97706"/>
                </a:solidFill>
                <a:latin typeface="Aptos"/>
              </a:rPr>
              <a:t>OnDisappearing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626096" y="29077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F172A"/>
                </a:solidFill>
                <a:latin typeface="Aptos"/>
              </a:rPr>
              <a:t>About to stop being visible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9473184" y="2834640"/>
            <a:ext cx="21945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784080" y="2267712"/>
            <a:ext cx="1938528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0320">
            <a:solidFill>
              <a:srgbClr val="FF6B7A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9893808" y="249631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6B7A"/>
                </a:solidFill>
                <a:latin typeface="Aptos"/>
              </a:rPr>
              <a:t>GC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93808" y="29077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0F172A"/>
                </a:solidFill>
                <a:latin typeface="Aptos"/>
              </a:rPr>
              <a:t>Only if unreachable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1874520" y="4160520"/>
            <a:ext cx="8412480" cy="987552"/>
          </a:xfrm>
          <a:prstGeom prst="roundRect">
            <a:avLst>
              <a:gd name="adj" fmla="val 4630"/>
            </a:avLst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2121408" y="4453128"/>
            <a:ext cx="7909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E123C"/>
                </a:solidFill>
                <a:latin typeface="Aptos"/>
              </a:rPr>
              <a:t>Common mistake: “OnDisappearing fired, therefore the page is finished.”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8680" y="593445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Disappearing tells you about visibility. The GC cares about reachability.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PHASE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Navigation is ownership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If a page is still in a navigation stack, it is supposed to remain alive.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38862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1234440" y="2212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/>
              </a:rPr>
              <a:t>Navigation stack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00200" y="2788920"/>
            <a:ext cx="2514600" cy="384048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1737360" y="288036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ptos"/>
              </a:rPr>
              <a:t>RootPage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3355848"/>
            <a:ext cx="2514600" cy="384048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1737360" y="34472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ptos"/>
              </a:rPr>
              <a:t>ListPage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00200" y="3922776"/>
            <a:ext cx="2514600" cy="38404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1737360" y="401421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DetailsPage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3364992"/>
            <a:ext cx="82296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63640" y="1920240"/>
            <a:ext cx="48006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29400" y="22128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/>
              </a:rPr>
              <a:t>After Pop / ".."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28620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ptos"/>
              </a:rPr>
              <a:t>Expected owner removed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3720" y="340156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Now any remaining strong reference is worth investigating.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" y="593445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A page surviving while it is in the stack is normal. Surviving after removal may not be.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PHASE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Garbage collection follows reference paths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The collector does not know what “closed page” means. It only knows reachable vs unreachable.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084832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1F2"/>
          </a:solidFill>
          <a:ln w="12700">
            <a:solidFill>
              <a:srgbClr val="FF6B7A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3408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E123C"/>
                </a:solidFill>
                <a:latin typeface="Aptos"/>
              </a:rPr>
              <a:t>GC root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20440" y="2084832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8" name="Text 6"/>
          <p:cNvSpPr/>
          <p:nvPr/>
        </p:nvSpPr>
        <p:spPr>
          <a:xfrm>
            <a:off x="3611880" y="2331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F172A"/>
                </a:solidFill>
                <a:latin typeface="Aptos"/>
              </a:rPr>
              <a:t>static event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715000" y="2084832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5806440" y="2331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F172A"/>
                </a:solidFill>
                <a:latin typeface="Aptos"/>
              </a:rPr>
              <a:t>delegate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09560" y="2084832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8001000" y="2331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47857"/>
                </a:solidFill>
                <a:latin typeface="Aptos"/>
              </a:rPr>
              <a:t>DetailsPage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104120" y="2084832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195560" y="2331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F172A"/>
                </a:solidFill>
                <a:latin typeface="Aptos"/>
              </a:rPr>
              <a:t>ViewModel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880360" y="2468880"/>
            <a:ext cx="548640" cy="0"/>
          </a:xfrm>
          <a:prstGeom prst="line">
            <a:avLst/>
          </a:prstGeom>
          <a:noFill/>
          <a:ln w="25400">
            <a:solidFill>
              <a:srgbClr val="F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138928" y="2468880"/>
            <a:ext cx="4846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33488" y="2468880"/>
            <a:ext cx="4846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8" name="Shape 16"/>
          <p:cNvSpPr/>
          <p:nvPr/>
        </p:nvSpPr>
        <p:spPr>
          <a:xfrm>
            <a:off x="9528048" y="2468880"/>
            <a:ext cx="4846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965960" y="3520440"/>
            <a:ext cx="8321040" cy="1508760"/>
          </a:xfrm>
          <a:prstGeom prst="roundRect">
            <a:avLst>
              <a:gd name="adj" fmla="val 1818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0" name="Text 18"/>
          <p:cNvSpPr/>
          <p:nvPr/>
        </p:nvSpPr>
        <p:spPr>
          <a:xfrm>
            <a:off x="2130552" y="3657600"/>
            <a:ext cx="7991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var weak = new WeakReference(page);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page = null;</a:t>
            </a:r>
            <a:endParaRPr lang="en-US" sz="1400" dirty="0"/>
          </a:p>
          <a:p>
            <a:pPr marL="0" indent="0">
              <a:buNone/>
              <a:defRPr>
                <a:solidFill>
                  <a:srgbClr val="64748B"/>
                </a:solidFill>
              </a:defRPr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GC.Collect();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GC.WaitForPendingFinalizers();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GC.Collect();</a:t>
            </a:r>
            <a:endParaRPr lang="en-US" sz="1400" dirty="0"/>
          </a:p>
          <a:p>
            <a:pPr marL="0" indent="0">
              <a:buNone/>
              <a:defRPr>
                <a:solidFill>
                  <a:srgbClr val="64748B"/>
                </a:solidFill>
              </a:defRPr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Debug.WriteLine(weak.IsAlive);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868680" y="593445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A memory leak is usually just an unexpected reference path.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LEAK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Three ways “harmless” code keeps a page alive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Shape 4"/>
          <p:cNvSpPr/>
          <p:nvPr/>
        </p:nvSpPr>
        <p:spPr>
          <a:xfrm>
            <a:off x="713232" y="1874520"/>
            <a:ext cx="64008" cy="32461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941832" y="2039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1  Long-lived event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441448"/>
            <a:ext cx="306324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AppEvents.Changed += OnChanged;</a:t>
            </a:r>
            <a:endParaRPr lang="en-US" sz="1250" dirty="0"/>
          </a:p>
          <a:p>
            <a:pPr marL="0" indent="0">
              <a:buNone/>
              <a:defRPr>
                <a:solidFill>
                  <a:srgbClr val="64748B"/>
                </a:solidFill>
              </a:defRPr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The publisher outlives the page, so the delegate can keep the page reachable.</a:t>
            </a:r>
            <a:endParaRPr lang="en-US" sz="1250" dirty="0"/>
          </a:p>
          <a:p>
            <a:pPr marL="0" indent="0">
              <a:buNone/>
              <a:defRPr>
                <a:solidFill>
                  <a:srgbClr val="64748B"/>
                </a:solidFill>
              </a:defRPr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Fix: unsubscribe or use a lifetime-aware pattern.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4361688" y="1874520"/>
            <a:ext cx="64008" cy="3246120"/>
          </a:xfrm>
          <a:prstGeom prst="rect">
            <a:avLst/>
          </a:prstGeom>
          <a:solidFill>
            <a:srgbClr val="FFB86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4590288" y="2039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2  Native / handler event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441448"/>
            <a:ext cx="306324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Handler.PlatformView.SomeEvent += ...</a:t>
            </a:r>
            <a:endParaRPr lang="en-US" sz="1250" dirty="0"/>
          </a:p>
          <a:p>
            <a:pPr marL="0" indent="0">
              <a:buNone/>
              <a:defRPr>
                <a:solidFill>
                  <a:srgbClr val="64748B"/>
                </a:solidFill>
              </a:defRPr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Now a platform object participates in the reference chain.</a:t>
            </a:r>
            <a:endParaRPr lang="en-US" sz="1250" dirty="0"/>
          </a:p>
          <a:p>
            <a:pPr marL="0" indent="0">
              <a:buNone/>
              <a:defRPr>
                <a:solidFill>
                  <a:srgbClr val="64748B"/>
                </a:solidFill>
              </a:defRPr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Fix: pair connect with disconnect / cleanup.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0144" y="187452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10144" y="1874520"/>
            <a:ext cx="64008" cy="32461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38744" y="2039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3  Work outlives the page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38744" y="2441448"/>
            <a:ext cx="306324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Timer, callback, task, subscription, cached ViewModel...</a:t>
            </a:r>
            <a:endParaRPr lang="en-US" sz="1250" dirty="0"/>
          </a:p>
          <a:p>
            <a:pPr marL="0" indent="0">
              <a:buNone/>
              <a:defRPr>
                <a:solidFill>
                  <a:srgbClr val="64748B"/>
                </a:solidFill>
              </a:defRPr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The page is gone visually, but something still has work tied to it.</a:t>
            </a:r>
            <a:endParaRPr lang="en-US" sz="1250" dirty="0"/>
          </a:p>
          <a:p>
            <a:pPr marL="0" indent="0">
              <a:buNone/>
              <a:defRPr>
                <a:solidFill>
                  <a:srgbClr val="64748B"/>
                </a:solidFill>
              </a:defRPr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Fix: cancellation + explicit ownership.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868680" y="593445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Don’t memorize leak types. Follow the owner → reference → page path.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DEBUGGING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A five-step recipe that works better than guessing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4672" y="187452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932688" y="20025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Aptos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72768" y="191109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Give each page instance an 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66360" y="19202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Know which instance you are actually looking 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26243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932688" y="27523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Aptos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72768" y="266090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Log lifecycle + handler changes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6360" y="26700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Constructor, HandlerChanged, Appearing, Disappearing.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" y="3374136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932688" y="35021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Aptos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72768" y="341071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Verify navigation ownership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6360" y="341985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Is it still in a stack, modal, tab, cache, route?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" y="4123944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932688" y="4251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Aptos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72768" y="41605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Track with WeakReference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416966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After expected removal, test whether it can be collected.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" y="4873752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932688" y="5001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Aptos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72768" y="49103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Find the retaining path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6360" y="49194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Static/service/native event? Task? timer? cache? ViewModel?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868680" y="5934456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Prove ownership first. Prove collection second. Then inspect the retaining path.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Page Lifecycle Lab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We’ll watch one page go through the whole journey, then break it on purpose.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202082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27632" y="19293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/>
              </a:rPr>
              <a:t>Create + navigate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749040" y="193852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Watch ctor, handler, native view, appearing.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1051560" y="270662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27632" y="26151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/>
              </a:rPr>
              <a:t>Navigate back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749040" y="262432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See disappearing and navigation ownership end.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73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51560" y="339242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Aptos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27632" y="3300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/>
              </a:rPr>
              <a:t>Prove collection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749040" y="331012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WeakReference becomes dead after controlled GC.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9593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51560" y="407822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E123C"/>
                </a:solidFill>
                <a:latin typeface="Aptos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27632" y="3986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/>
              </a:rPr>
              <a:t>Introduce one leak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749040" y="399592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Static event keeps the page alive.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6451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51560" y="476402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E123C"/>
                </a:solidFill>
                <a:latin typeface="Aptos"/>
              </a:rPr>
              <a:t>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27632" y="46725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/>
              </a:rPr>
              <a:t>Fix it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749040" y="468172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ptos"/>
              </a:rPr>
              <a:t>Remove the retaining reference and collect again.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87968" y="5230368"/>
            <a:ext cx="1965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25712" y="538581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4C7"/>
                </a:solidFill>
                <a:latin typeface="Aptos"/>
              </a:rPr>
              <a:t>~15 minutes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PRODUCTION PERSPECTIVE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Why this mental model matters at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ptos"/>
              </a:rPr>
              <a:t>Internals become useful when telemetry tells you what happened, but not why.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1965960"/>
            <a:ext cx="340156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Shape 4"/>
          <p:cNvSpPr/>
          <p:nvPr/>
        </p:nvSpPr>
        <p:spPr>
          <a:xfrm>
            <a:off x="713232" y="1965960"/>
            <a:ext cx="64008" cy="28346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941832" y="213055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Crash / ANR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532888"/>
            <a:ext cx="2990088" cy="2121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A native stack may start far below your XAML. Knowing the handler/platform boundary narrows the search.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965960"/>
            <a:ext cx="340156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4370832" y="1965960"/>
            <a:ext cx="64008" cy="2834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4599432" y="213055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Performance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532888"/>
            <a:ext cx="2990088" cy="2121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Repeated page creation, handler churn, retained trees, and duplicate subscriptions show up as real cost.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8432" y="1965960"/>
            <a:ext cx="340156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028432" y="1965960"/>
            <a:ext cx="64008" cy="2834640"/>
          </a:xfrm>
          <a:prstGeom prst="rect">
            <a:avLst/>
          </a:prstGeom>
          <a:solidFill>
            <a:srgbClr val="40E0A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57032" y="213055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/>
              </a:rPr>
              <a:t>Memory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57032" y="2532888"/>
            <a:ext cx="2990088" cy="2121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ptos"/>
              </a:rPr>
              <a:t>“Page disappeared” is not evidence. Reference paths and collection are.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0B981"/>
                </a:solidFill>
                <a:latin typeface="Aptos"/>
              </a:rPr>
              <a:t>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"/>
              </a:rPr>
              <a:t>Three things to remember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87552" y="196596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1197864" y="21671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7857"/>
                </a:solidFill>
                <a:latin typeface="Aptos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93392" y="2002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ptos"/>
              </a:rPr>
              <a:t>A page is more than a page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212080" y="2029087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ptos"/>
              </a:rPr>
              <a:t>Managed tree + handler + native tree + owners.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87552" y="3081528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1197864" y="328269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7857"/>
                </a:solidFill>
                <a:latin typeface="Aptos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93392" y="3118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ptos"/>
              </a:rPr>
              <a:t>Disappearing is not dying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212080" y="31089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ptos"/>
              </a:rPr>
              <a:t>Navigation and visibility are different from reachability.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4197096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97864" y="439826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7857"/>
                </a:solidFill>
                <a:latin typeface="Aptos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93392" y="4233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ptos"/>
              </a:rPr>
              <a:t>Debug ownership, not symptoms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212080" y="42336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ptos"/>
              </a:rPr>
              <a:t>Ask who holds the reference and where that ownership should end.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5449824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B981"/>
                </a:solidFill>
                <a:latin typeface="Aptos"/>
              </a:rPr>
              <a:t>When something feels “random” in MAUI, draw the ownership graph.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</TotalTime>
  <Words>1120</Words>
  <Application>Microsoft Macintosh PowerPoint</Application>
  <PresentationFormat>Widescreen</PresentationFormat>
  <Paragraphs>237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Secret Life of a MAUI Page</dc:title>
  <dc:subject>The Secret Life of a MAUI Page</dc:subject>
  <dc:creator>Mihajlo Mladenov</dc:creator>
  <cp:lastModifiedBy>Mihajlo Mladenov</cp:lastModifiedBy>
  <cp:revision>17</cp:revision>
  <dcterms:created xsi:type="dcterms:W3CDTF">2026-09-14T08:42:44Z</dcterms:created>
  <dcterms:modified xsi:type="dcterms:W3CDTF">2026-09-17T15:42:07Z</dcterms:modified>
</cp:coreProperties>
</file>